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831C58-8801-4EE0-8765-E924D0EADD39}" type="doc">
      <dgm:prSet loTypeId="urn:microsoft.com/office/officeart/2005/8/layout/vList3" loCatId="list" qsTypeId="urn:microsoft.com/office/officeart/2005/8/quickstyle/simple1" qsCatId="simple" csTypeId="urn:microsoft.com/office/officeart/2005/8/colors/colorful2" csCatId="colorful" phldr="1"/>
      <dgm:spPr>
        <a:scene3d>
          <a:camera prst="orthographicFront"/>
          <a:lightRig rig="soft" dir="t">
            <a:rot lat="0" lon="0" rev="0"/>
          </a:lightRig>
        </a:scene3d>
      </dgm:spPr>
      <dgm:t>
        <a:bodyPr/>
        <a:lstStyle/>
        <a:p>
          <a:endParaRPr lang="ru-RU"/>
        </a:p>
      </dgm:t>
    </dgm:pt>
    <dgm:pt modelId="{BA38E921-630A-43FC-9A73-ADA2E2B32CD8}">
      <dgm:prSet/>
      <dgm:spPr>
        <a:ln>
          <a:noFill/>
        </a:ln>
        <a:effectLst>
          <a:outerShdw blurRad="127000" dist="38100" dir="2700000" algn="ctr">
            <a:srgbClr val="000000">
              <a:alpha val="45000"/>
            </a:srgbClr>
          </a:outerShdw>
        </a:effectLst>
        <a:sp3d prstMaterial="translucentPowder">
          <a:bevelT w="203200" h="50800" prst="softRound"/>
        </a:sp3d>
      </dgm:spPr>
      <dgm:t>
        <a:bodyPr/>
        <a:lstStyle/>
        <a:p>
          <a:pPr rtl="0"/>
          <a:r>
            <a:rPr lang="ru-RU" b="1" i="1" dirty="0" smtClean="0">
              <a:solidFill>
                <a:schemeClr val="tx1"/>
              </a:solidFill>
            </a:rPr>
            <a:t>Управление человеческими ресурсами:</a:t>
          </a:r>
          <a:r>
            <a:rPr lang="ru-RU" dirty="0" smtClean="0">
              <a:solidFill>
                <a:schemeClr val="tx1"/>
              </a:solidFill>
            </a:rPr>
            <a:t/>
          </a:r>
          <a:br>
            <a:rPr lang="ru-RU" dirty="0" smtClean="0">
              <a:solidFill>
                <a:schemeClr val="tx1"/>
              </a:solidFill>
            </a:rPr>
          </a:br>
          <a:r>
            <a:rPr lang="ru-RU" dirty="0" smtClean="0">
              <a:solidFill>
                <a:schemeClr val="tx1"/>
              </a:solidFill>
            </a:rPr>
            <a:t>акцент на стратегических аспектах принятия кадровых решений.</a:t>
          </a:r>
          <a:endParaRPr lang="ru-RU" dirty="0">
            <a:solidFill>
              <a:schemeClr val="tx1"/>
            </a:solidFill>
          </a:endParaRPr>
        </a:p>
      </dgm:t>
    </dgm:pt>
    <dgm:pt modelId="{8332BCD0-DD41-4493-B383-24D923D44EB1}" type="parTrans" cxnId="{F0E73556-E9BB-4B9A-874C-446D161DDF71}">
      <dgm:prSet/>
      <dgm:spPr/>
      <dgm:t>
        <a:bodyPr/>
        <a:lstStyle/>
        <a:p>
          <a:endParaRPr lang="ru-RU"/>
        </a:p>
      </dgm:t>
    </dgm:pt>
    <dgm:pt modelId="{6A4ADAD0-22C8-4BA7-A01B-962527EE5E9A}" type="sibTrans" cxnId="{F0E73556-E9BB-4B9A-874C-446D161DDF71}">
      <dgm:prSet/>
      <dgm:spPr/>
      <dgm:t>
        <a:bodyPr/>
        <a:lstStyle/>
        <a:p>
          <a:endParaRPr lang="ru-RU"/>
        </a:p>
      </dgm:t>
    </dgm:pt>
    <dgm:pt modelId="{13944F70-021E-4360-A8B6-AD584D16B4EA}">
      <dgm:prSet/>
      <dgm:spPr>
        <a:solidFill>
          <a:schemeClr val="accent2"/>
        </a:solidFill>
        <a:ln>
          <a:noFill/>
        </a:ln>
        <a:effectLst>
          <a:outerShdw blurRad="127000" dist="38100" dir="2700000" algn="ctr">
            <a:srgbClr val="000000">
              <a:alpha val="45000"/>
            </a:srgbClr>
          </a:outerShdw>
        </a:effectLst>
        <a:sp3d prstMaterial="translucentPowder">
          <a:bevelT w="203200" h="50800" prst="softRound"/>
        </a:sp3d>
      </dgm:spPr>
      <dgm:t>
        <a:bodyPr/>
        <a:lstStyle/>
        <a:p>
          <a:pPr rtl="0"/>
          <a:r>
            <a:rPr lang="ru-RU" b="1" i="1" smtClean="0"/>
            <a:t>Управление персоналом</a:t>
          </a:r>
          <a:r>
            <a:rPr lang="ru-RU" smtClean="0"/>
            <a:t>: в большей мере характеризует повседневную оперативную работу </a:t>
          </a:r>
          <a:r>
            <a:rPr lang="ru-RU" dirty="0" smtClean="0"/>
            <a:t>с кадрами.</a:t>
          </a:r>
          <a:br>
            <a:rPr lang="ru-RU" dirty="0" smtClean="0"/>
          </a:br>
          <a:endParaRPr lang="ru-RU" dirty="0"/>
        </a:p>
      </dgm:t>
    </dgm:pt>
    <dgm:pt modelId="{2228B866-B4F0-46C9-9B13-BE12E66D1EEF}" type="parTrans" cxnId="{1A3B367E-DBC2-48C3-B571-DB04C0A71570}">
      <dgm:prSet/>
      <dgm:spPr/>
      <dgm:t>
        <a:bodyPr/>
        <a:lstStyle/>
        <a:p>
          <a:endParaRPr lang="ru-RU"/>
        </a:p>
      </dgm:t>
    </dgm:pt>
    <dgm:pt modelId="{6F69243C-4593-4FE1-8DAA-4FA5087FDC74}" type="sibTrans" cxnId="{1A3B367E-DBC2-48C3-B571-DB04C0A71570}">
      <dgm:prSet/>
      <dgm:spPr/>
      <dgm:t>
        <a:bodyPr/>
        <a:lstStyle/>
        <a:p>
          <a:endParaRPr lang="ru-RU"/>
        </a:p>
      </dgm:t>
    </dgm:pt>
    <dgm:pt modelId="{2A37A6F6-F392-4426-9B48-753EA539E372}" type="pres">
      <dgm:prSet presAssocID="{DE831C58-8801-4EE0-8765-E924D0EADD39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02C8ADA-C6EB-4E22-92D1-17CD379D018F}" type="pres">
      <dgm:prSet presAssocID="{BA38E921-630A-43FC-9A73-ADA2E2B32CD8}" presName="composite" presStyleCnt="0"/>
      <dgm:spPr>
        <a:ln>
          <a:noFill/>
        </a:ln>
        <a:effectLst>
          <a:outerShdw blurRad="127000" dist="38100" dir="2700000" algn="ctr">
            <a:srgbClr val="000000">
              <a:alpha val="45000"/>
            </a:srgbClr>
          </a:outerShdw>
        </a:effectLst>
        <a:sp3d prstMaterial="translucentPowder">
          <a:bevelT w="203200" h="50800" prst="softRound"/>
        </a:sp3d>
      </dgm:spPr>
    </dgm:pt>
    <dgm:pt modelId="{471AE93E-B6F3-4B9D-9438-846738AE5019}" type="pres">
      <dgm:prSet presAssocID="{BA38E921-630A-43FC-9A73-ADA2E2B32CD8}" presName="imgShp" presStyleLbl="fgImgPlace1" presStyleIdx="0" presStyleCnt="2"/>
      <dgm:spPr>
        <a:ln>
          <a:noFill/>
        </a:ln>
        <a:effectLst>
          <a:outerShdw blurRad="127000" dist="38100" dir="2700000" algn="ctr">
            <a:srgbClr val="000000">
              <a:alpha val="45000"/>
            </a:srgbClr>
          </a:outerShdw>
        </a:effectLst>
        <a:sp3d prstMaterial="translucentPowder">
          <a:bevelT w="203200" h="50800" prst="softRound"/>
        </a:sp3d>
      </dgm:spPr>
    </dgm:pt>
    <dgm:pt modelId="{63F630A5-D8AB-4598-885D-81CD291ED3E9}" type="pres">
      <dgm:prSet presAssocID="{BA38E921-630A-43FC-9A73-ADA2E2B32CD8}" presName="tx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685B84-17A4-4330-8D53-8A8264ED7729}" type="pres">
      <dgm:prSet presAssocID="{6A4ADAD0-22C8-4BA7-A01B-962527EE5E9A}" presName="spacing" presStyleCnt="0"/>
      <dgm:spPr>
        <a:ln>
          <a:noFill/>
        </a:ln>
        <a:effectLst>
          <a:outerShdw blurRad="127000" dist="38100" dir="2700000" algn="ctr">
            <a:srgbClr val="000000">
              <a:alpha val="45000"/>
            </a:srgbClr>
          </a:outerShdw>
        </a:effectLst>
        <a:sp3d prstMaterial="translucentPowder">
          <a:bevelT w="203200" h="50800" prst="softRound"/>
        </a:sp3d>
      </dgm:spPr>
    </dgm:pt>
    <dgm:pt modelId="{37A83A14-EE1C-41F1-885A-DC46D173D1F8}" type="pres">
      <dgm:prSet presAssocID="{13944F70-021E-4360-A8B6-AD584D16B4EA}" presName="composite" presStyleCnt="0"/>
      <dgm:spPr>
        <a:ln>
          <a:noFill/>
        </a:ln>
        <a:effectLst>
          <a:outerShdw blurRad="127000" dist="38100" dir="2700000" algn="ctr">
            <a:srgbClr val="000000">
              <a:alpha val="45000"/>
            </a:srgbClr>
          </a:outerShdw>
        </a:effectLst>
        <a:sp3d prstMaterial="translucentPowder">
          <a:bevelT w="203200" h="50800" prst="softRound"/>
        </a:sp3d>
      </dgm:spPr>
    </dgm:pt>
    <dgm:pt modelId="{8DE187FE-0BD5-4DCA-81C1-BA91DD0FA4F8}" type="pres">
      <dgm:prSet presAssocID="{13944F70-021E-4360-A8B6-AD584D16B4EA}" presName="imgShp" presStyleLbl="fgImgPlace1" presStyleIdx="1" presStyleCnt="2"/>
      <dgm:spPr>
        <a:ln>
          <a:noFill/>
        </a:ln>
        <a:effectLst>
          <a:outerShdw blurRad="127000" dist="38100" dir="2700000" algn="ctr">
            <a:srgbClr val="000000">
              <a:alpha val="45000"/>
            </a:srgbClr>
          </a:outerShdw>
        </a:effectLst>
        <a:sp3d prstMaterial="translucentPowder">
          <a:bevelT w="203200" h="50800" prst="softRound"/>
        </a:sp3d>
      </dgm:spPr>
    </dgm:pt>
    <dgm:pt modelId="{E5C2D6B1-7B27-4692-A8FD-985654AC273E}" type="pres">
      <dgm:prSet presAssocID="{13944F70-021E-4360-A8B6-AD584D16B4EA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3189ED7-EF28-4D37-9EC7-4476FB7840AD}" type="presOf" srcId="{DE831C58-8801-4EE0-8765-E924D0EADD39}" destId="{2A37A6F6-F392-4426-9B48-753EA539E372}" srcOrd="0" destOrd="0" presId="urn:microsoft.com/office/officeart/2005/8/layout/vList3"/>
    <dgm:cxn modelId="{1A3B367E-DBC2-48C3-B571-DB04C0A71570}" srcId="{DE831C58-8801-4EE0-8765-E924D0EADD39}" destId="{13944F70-021E-4360-A8B6-AD584D16B4EA}" srcOrd="1" destOrd="0" parTransId="{2228B866-B4F0-46C9-9B13-BE12E66D1EEF}" sibTransId="{6F69243C-4593-4FE1-8DAA-4FA5087FDC74}"/>
    <dgm:cxn modelId="{04CB0006-F619-41BF-9CC4-824243D450DA}" type="presOf" srcId="{13944F70-021E-4360-A8B6-AD584D16B4EA}" destId="{E5C2D6B1-7B27-4692-A8FD-985654AC273E}" srcOrd="0" destOrd="0" presId="urn:microsoft.com/office/officeart/2005/8/layout/vList3"/>
    <dgm:cxn modelId="{F0E73556-E9BB-4B9A-874C-446D161DDF71}" srcId="{DE831C58-8801-4EE0-8765-E924D0EADD39}" destId="{BA38E921-630A-43FC-9A73-ADA2E2B32CD8}" srcOrd="0" destOrd="0" parTransId="{8332BCD0-DD41-4493-B383-24D923D44EB1}" sibTransId="{6A4ADAD0-22C8-4BA7-A01B-962527EE5E9A}"/>
    <dgm:cxn modelId="{E94BCE8D-4D87-4481-BF1E-91366B912897}" type="presOf" srcId="{BA38E921-630A-43FC-9A73-ADA2E2B32CD8}" destId="{63F630A5-D8AB-4598-885D-81CD291ED3E9}" srcOrd="0" destOrd="0" presId="urn:microsoft.com/office/officeart/2005/8/layout/vList3"/>
    <dgm:cxn modelId="{F9AA292D-B26D-4F75-97F7-D965DC49D9FC}" type="presParOf" srcId="{2A37A6F6-F392-4426-9B48-753EA539E372}" destId="{602C8ADA-C6EB-4E22-92D1-17CD379D018F}" srcOrd="0" destOrd="0" presId="urn:microsoft.com/office/officeart/2005/8/layout/vList3"/>
    <dgm:cxn modelId="{2C712B94-A3A7-4BC7-B95E-BDB4DA2B4D5A}" type="presParOf" srcId="{602C8ADA-C6EB-4E22-92D1-17CD379D018F}" destId="{471AE93E-B6F3-4B9D-9438-846738AE5019}" srcOrd="0" destOrd="0" presId="urn:microsoft.com/office/officeart/2005/8/layout/vList3"/>
    <dgm:cxn modelId="{CDB587CF-56BD-4845-A24E-247DA356EA38}" type="presParOf" srcId="{602C8ADA-C6EB-4E22-92D1-17CD379D018F}" destId="{63F630A5-D8AB-4598-885D-81CD291ED3E9}" srcOrd="1" destOrd="0" presId="urn:microsoft.com/office/officeart/2005/8/layout/vList3"/>
    <dgm:cxn modelId="{50D1D03B-5392-4B7B-902D-4808C1253467}" type="presParOf" srcId="{2A37A6F6-F392-4426-9B48-753EA539E372}" destId="{C8685B84-17A4-4330-8D53-8A8264ED7729}" srcOrd="1" destOrd="0" presId="urn:microsoft.com/office/officeart/2005/8/layout/vList3"/>
    <dgm:cxn modelId="{8CC28A43-2D1D-4784-A230-A5021BFBEC2E}" type="presParOf" srcId="{2A37A6F6-F392-4426-9B48-753EA539E372}" destId="{37A83A14-EE1C-41F1-885A-DC46D173D1F8}" srcOrd="2" destOrd="0" presId="urn:microsoft.com/office/officeart/2005/8/layout/vList3"/>
    <dgm:cxn modelId="{1D2099EA-9E2D-4D59-A69A-BBFDB8E1E5FD}" type="presParOf" srcId="{37A83A14-EE1C-41F1-885A-DC46D173D1F8}" destId="{8DE187FE-0BD5-4DCA-81C1-BA91DD0FA4F8}" srcOrd="0" destOrd="0" presId="urn:microsoft.com/office/officeart/2005/8/layout/vList3"/>
    <dgm:cxn modelId="{2939E955-9762-4B27-B761-853944E2E9E6}" type="presParOf" srcId="{37A83A14-EE1C-41F1-885A-DC46D173D1F8}" destId="{E5C2D6B1-7B27-4692-A8FD-985654AC273E}" srcOrd="1" destOrd="0" presId="urn:microsoft.com/office/officeart/2005/8/layout/vList3"/>
  </dgm:cxnLst>
  <dgm:bg>
    <a:effectLst>
      <a:outerShdw blurRad="50800" dist="38100" dir="2700000" algn="tl" rotWithShape="0">
        <a:prstClr val="black">
          <a:alpha val="40000"/>
        </a:prstClr>
      </a:outerShdw>
      <a:softEdge rad="12700"/>
    </a:effectLst>
  </dgm:bg>
  <dgm:whole>
    <a:ln>
      <a:solidFill>
        <a:srgbClr val="010000"/>
      </a:solidFill>
    </a:ln>
  </dgm:whole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A42886-9961-4464-B713-AA8A67CFF8E1}" type="doc">
      <dgm:prSet loTypeId="urn:microsoft.com/office/officeart/2005/8/layout/vList3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ru-RU"/>
        </a:p>
      </dgm:t>
    </dgm:pt>
    <dgm:pt modelId="{810DBE8A-5B09-4A11-9EC6-B4C4DF686207}">
      <dgm:prSet/>
      <dgm:spPr/>
      <dgm:t>
        <a:bodyPr/>
        <a:lstStyle/>
        <a:p>
          <a:pPr rtl="0"/>
          <a:r>
            <a:rPr lang="ru-RU" b="1" i="1" baseline="0" dirty="0" smtClean="0"/>
            <a:t>Управление человеческими ресурсами (УЧР) выполняет следующие функции:</a:t>
          </a:r>
          <a:endParaRPr lang="ru-RU" i="1" dirty="0"/>
        </a:p>
      </dgm:t>
    </dgm:pt>
    <dgm:pt modelId="{7063418B-6A88-4C76-BE3D-3426EEE35D24}" type="parTrans" cxnId="{16EDC08A-7506-4CAC-9D4A-586E9158EE91}">
      <dgm:prSet/>
      <dgm:spPr/>
      <dgm:t>
        <a:bodyPr/>
        <a:lstStyle/>
        <a:p>
          <a:endParaRPr lang="ru-RU"/>
        </a:p>
      </dgm:t>
    </dgm:pt>
    <dgm:pt modelId="{FDABE8C2-CFBB-478B-8F19-CF44ADEA66FC}" type="sibTrans" cxnId="{16EDC08A-7506-4CAC-9D4A-586E9158EE91}">
      <dgm:prSet/>
      <dgm:spPr/>
      <dgm:t>
        <a:bodyPr/>
        <a:lstStyle/>
        <a:p>
          <a:endParaRPr lang="ru-RU"/>
        </a:p>
      </dgm:t>
    </dgm:pt>
    <dgm:pt modelId="{674D92EF-3714-44AF-8A82-530D4F3171F6}" type="pres">
      <dgm:prSet presAssocID="{3DA42886-9961-4464-B713-AA8A67CFF8E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0331D27-529D-4E19-A760-2327CF6C50C1}" type="pres">
      <dgm:prSet presAssocID="{810DBE8A-5B09-4A11-9EC6-B4C4DF686207}" presName="composite" presStyleCnt="0"/>
      <dgm:spPr/>
    </dgm:pt>
    <dgm:pt modelId="{D9DA9DD5-EB69-4FBF-9C6B-85654961D2F6}" type="pres">
      <dgm:prSet presAssocID="{810DBE8A-5B09-4A11-9EC6-B4C4DF686207}" presName="imgShp" presStyleLbl="fgImgPlace1" presStyleIdx="0" presStyleCnt="1"/>
      <dgm:spPr/>
    </dgm:pt>
    <dgm:pt modelId="{A928246B-0409-4E66-BE6B-2747DA1F0892}" type="pres">
      <dgm:prSet presAssocID="{810DBE8A-5B09-4A11-9EC6-B4C4DF686207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52DFB70-3486-470F-898A-DD5C6E3E4A7E}" type="presOf" srcId="{810DBE8A-5B09-4A11-9EC6-B4C4DF686207}" destId="{A928246B-0409-4E66-BE6B-2747DA1F0892}" srcOrd="0" destOrd="0" presId="urn:microsoft.com/office/officeart/2005/8/layout/vList3"/>
    <dgm:cxn modelId="{16EDC08A-7506-4CAC-9D4A-586E9158EE91}" srcId="{3DA42886-9961-4464-B713-AA8A67CFF8E1}" destId="{810DBE8A-5B09-4A11-9EC6-B4C4DF686207}" srcOrd="0" destOrd="0" parTransId="{7063418B-6A88-4C76-BE3D-3426EEE35D24}" sibTransId="{FDABE8C2-CFBB-478B-8F19-CF44ADEA66FC}"/>
    <dgm:cxn modelId="{10899769-A01D-4E0F-812F-1D11B2437012}" type="presOf" srcId="{3DA42886-9961-4464-B713-AA8A67CFF8E1}" destId="{674D92EF-3714-44AF-8A82-530D4F3171F6}" srcOrd="0" destOrd="0" presId="urn:microsoft.com/office/officeart/2005/8/layout/vList3"/>
    <dgm:cxn modelId="{405D5DAE-5EDE-49E3-A5A2-56FE80F2AC3A}" type="presParOf" srcId="{674D92EF-3714-44AF-8A82-530D4F3171F6}" destId="{70331D27-529D-4E19-A760-2327CF6C50C1}" srcOrd="0" destOrd="0" presId="urn:microsoft.com/office/officeart/2005/8/layout/vList3"/>
    <dgm:cxn modelId="{D006AC1E-8923-4C70-B27C-4A34FE3AC7B3}" type="presParOf" srcId="{70331D27-529D-4E19-A760-2327CF6C50C1}" destId="{D9DA9DD5-EB69-4FBF-9C6B-85654961D2F6}" srcOrd="0" destOrd="0" presId="urn:microsoft.com/office/officeart/2005/8/layout/vList3"/>
    <dgm:cxn modelId="{EA1CA318-EBF7-4A09-94C6-BF5C7792D6AD}" type="presParOf" srcId="{70331D27-529D-4E19-A760-2327CF6C50C1}" destId="{A928246B-0409-4E66-BE6B-2747DA1F0892}" srcOrd="1" destOrd="0" presId="urn:microsoft.com/office/officeart/2005/8/layout/vList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60C9B49-EB9F-4A20-A8B6-FF87192BBA27}" type="datetimeFigureOut">
              <a:rPr lang="ru-RU" smtClean="0"/>
              <a:pPr/>
              <a:t>17.04.2020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92D2F690-97B0-4FAD-B4AF-DA790D11FF0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/>
          <p:cNvGraphicFramePr/>
          <p:nvPr/>
        </p:nvGraphicFramePr>
        <p:xfrm>
          <a:off x="714348" y="571480"/>
          <a:ext cx="7858180" cy="5214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/>
          <p:cNvGraphicFramePr/>
          <p:nvPr/>
        </p:nvGraphicFramePr>
        <p:xfrm>
          <a:off x="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>
          <a:xfrm>
            <a:off x="1071563" y="1714500"/>
            <a:ext cx="8072437" cy="48577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</a:t>
            </a: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ea typeface="Times New Roman" pitchFamily="18" charset="0"/>
                <a:cs typeface="Aharoni" pitchFamily="2" charset="-79"/>
              </a:rPr>
              <a:t>набор и отбор персонала;</a:t>
            </a:r>
            <a:endParaRPr kumimoji="0" lang="ru-RU" sz="3300" b="0" i="1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haroni" pitchFamily="2" charset="-79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ea typeface="Times New Roman" pitchFamily="18" charset="0"/>
                <a:cs typeface="Aharoni" pitchFamily="2" charset="-79"/>
              </a:rPr>
              <a:t>-адаптация;</a:t>
            </a:r>
            <a:endParaRPr kumimoji="0" lang="ru-RU" sz="3300" b="0" i="1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haroni" pitchFamily="2" charset="-79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ea typeface="Times New Roman" pitchFamily="18" charset="0"/>
                <a:cs typeface="Aharoni" pitchFamily="2" charset="-79"/>
              </a:rPr>
              <a:t>-оценка персонала;</a:t>
            </a:r>
            <a:endParaRPr kumimoji="0" lang="ru-RU" sz="3300" b="0" i="1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haroni" pitchFamily="2" charset="-79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ea typeface="Times New Roman" pitchFamily="18" charset="0"/>
                <a:cs typeface="Aharoni" pitchFamily="2" charset="-79"/>
              </a:rPr>
              <a:t>-обучение и развитие персонала;</a:t>
            </a:r>
            <a:endParaRPr kumimoji="0" lang="ru-RU" sz="3300" b="0" i="1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Times New Roman" pitchFamily="18" charset="0"/>
              <a:cs typeface="Aharoni" pitchFamily="2" charset="-79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  <a:t>-планирование карьеры;</a:t>
            </a:r>
            <a:b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</a:b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  <a:t>-организация системы компенсаций и пособий;</a:t>
            </a:r>
            <a:b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</a:b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  <a:t>-обеспечение безопасности;</a:t>
            </a:r>
            <a:b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</a:b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  <a:t>-регулирование трудовых отношений;</a:t>
            </a:r>
            <a:b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</a:b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  <a:t>-стратегическое планирование;</a:t>
            </a:r>
            <a:b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</a:br>
            <a:r>
              <a:rPr kumimoji="0" lang="ru-RU" sz="3300" b="0" i="1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  <a:t>-анализ, проектирование рабочих процессов</a:t>
            </a:r>
            <a:r>
              <a:rPr kumimoji="0" lang="ru-RU" sz="3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  <a:t>.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  <a:t/>
            </a:r>
            <a:b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haroni" pitchFamily="2" charset="-79"/>
              </a:rPr>
            </a:br>
            <a:endParaRPr lang="ru-RU" dirty="0">
              <a:cs typeface="Aharoni" pitchFamily="2" charset="-79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184731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/>
            </a:r>
            <a:b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0" y="0"/>
            <a:ext cx="9144000" cy="6278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1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Команда </a:t>
            </a:r>
            <a:r>
              <a:rPr kumimoji="0" lang="ru-RU" sz="2800" b="1" i="1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проекта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это группа сотрудников,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находящаяся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подчинении руководителя проекта и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работающая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над выполнением проекта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Она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является важным звеном структуры проекта,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именно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команда обеспечивает осуществление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его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замысла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 smtClean="0">
              <a:solidFill>
                <a:srgbClr val="333333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1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Командообразование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это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процесс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построения" особого способа взаимодействия людей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группе (называемой командой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позволяющего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эффективно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реализовывать их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профессиональный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потенциал в соответствии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стратегическими целями данной группы (команды).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1"/>
          <p:cNvSpPr>
            <a:spLocks noChangeArrowheads="1"/>
          </p:cNvSpPr>
          <p:nvPr/>
        </p:nvSpPr>
        <p:spPr bwMode="auto">
          <a:xfrm>
            <a:off x="0" y="0"/>
            <a:ext cx="9001156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200" b="1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200" b="1" dirty="0">
              <a:solidFill>
                <a:srgbClr val="333333"/>
              </a:solidFill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200" b="1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200" b="1" dirty="0">
              <a:solidFill>
                <a:srgbClr val="333333"/>
              </a:solidFill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200" b="1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 </a:t>
            </a:r>
            <a:endParaRPr kumimoji="0" lang="ru-RU" sz="3200" b="1" i="1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32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cap="none" dirty="0" smtClean="0"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Преимущества работы в команде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 fontScale="925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Объединение профессионалов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endParaRPr lang="ru-RU" dirty="0" smtClean="0">
              <a:solidFill>
                <a:srgbClr val="333333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</a:t>
            </a:r>
            <a:r>
              <a:rPr lang="ru-RU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Полная реализация потенциала каждого </a:t>
            </a:r>
            <a:r>
              <a:rPr lang="en-US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</a:t>
            </a:r>
            <a:r>
              <a:rPr lang="ru-RU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участника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ru-RU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</a:t>
            </a:r>
            <a:r>
              <a:rPr lang="ru-RU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Принятие наиболее уместного решения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ru-RU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</a:t>
            </a:r>
            <a:r>
              <a:rPr lang="ru-RU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Развитие индивидуальности каждого сотрудника</a:t>
            </a:r>
            <a:r>
              <a:rPr lang="ru-RU" sz="2800" dirty="0" smtClean="0">
                <a:solidFill>
                  <a:srgbClr val="333333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/>
            </a:r>
            <a:br>
              <a:rPr lang="ru-RU" sz="2800" dirty="0" smtClean="0">
                <a:solidFill>
                  <a:srgbClr val="333333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lang="ru-RU" sz="1200" dirty="0" smtClean="0">
                <a:solidFill>
                  <a:srgbClr val="333333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/>
            </a:r>
            <a:br>
              <a:rPr lang="ru-RU" sz="1200" dirty="0" smtClean="0">
                <a:solidFill>
                  <a:srgbClr val="333333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8858280" cy="498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200" b="1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200" b="1" dirty="0">
              <a:solidFill>
                <a:srgbClr val="333333"/>
              </a:solidFill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200" b="1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1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Состав команды проекта: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Руководитель проекта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Куратор проекта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Архитектор системы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Администратор проекта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Куратор проекта (Спонсор)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42984"/>
            <a:ext cx="8686800" cy="535785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ru-RU" sz="9600" b="1" i="1" dirty="0" smtClean="0">
                <a:latin typeface="Times New Roman" pitchFamily="18" charset="0"/>
                <a:cs typeface="Times New Roman" pitchFamily="18" charset="0"/>
              </a:rPr>
              <a:t>Функции</a:t>
            </a: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- Общее руководство ходом реализации проекта;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- Обеспечение проекта ресурсами;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- Рассмотрение и утверждение проектной документации;-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- Анализ сводной отчетности;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- Решение проблем находящихся вне компетенции Руководителя проекта;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- Изменение базовых параметров проекта.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endParaRPr lang="ru-RU" sz="7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7400" b="1" i="1" dirty="0" smtClean="0">
                <a:latin typeface="Times New Roman" pitchFamily="18" charset="0"/>
                <a:cs typeface="Times New Roman" pitchFamily="18" charset="0"/>
              </a:rPr>
              <a:t>Полномочия</a:t>
            </a: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➢ Утверждение целей проекта;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➢ Назначение Руководителя проекта;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➢ Утверждение общего плана и бюджета проекта;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➢ Получение от Руководителя сводной отчетности о ходе выполнения проекта;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➢ Принятие принципиальных решений при возникновении критических изменений, влияющих на сроки, стоимости и качество результатов проекта.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➢ Контроль соблюдения участниками проекта установленной системы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документооборота;</a:t>
            </a:r>
            <a:br>
              <a:rPr lang="ru-RU" sz="7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400" dirty="0" smtClean="0">
                <a:latin typeface="Times New Roman" pitchFamily="18" charset="0"/>
                <a:cs typeface="Times New Roman" pitchFamily="18" charset="0"/>
              </a:rPr>
              <a:t>➢ Затребование от конкретных исполнителей по проекту оперативной информации и отчетов о ходе работ по проекту.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Руководитель проекта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ru-RU" sz="4500" b="1" i="1" dirty="0" smtClean="0"/>
              <a:t>Функции и </a:t>
            </a:r>
            <a:r>
              <a:rPr lang="ru-RU" sz="4500" b="1" i="1" dirty="0" smtClean="0"/>
              <a:t>Полномочия</a:t>
            </a:r>
            <a:endParaRPr lang="en-US" sz="4500" b="1" i="1" dirty="0" smtClean="0"/>
          </a:p>
          <a:p>
            <a:pPr>
              <a:buNone/>
            </a:pPr>
            <a:r>
              <a:rPr lang="ru-RU" dirty="0" smtClean="0"/>
              <a:t>❖ </a:t>
            </a:r>
            <a:r>
              <a:rPr lang="ru-RU" dirty="0" smtClean="0"/>
              <a:t>Формирование команды проекта;</a:t>
            </a:r>
            <a:br>
              <a:rPr lang="ru-RU" dirty="0" smtClean="0"/>
            </a:br>
            <a:r>
              <a:rPr lang="ru-RU" dirty="0" smtClean="0"/>
              <a:t>➢Планирование, организация и контроль выполнения работ;</a:t>
            </a:r>
            <a:br>
              <a:rPr lang="ru-RU" dirty="0" smtClean="0"/>
            </a:br>
            <a:r>
              <a:rPr lang="ru-RU" dirty="0" smtClean="0"/>
              <a:t> ➢ </a:t>
            </a:r>
            <a:r>
              <a:rPr lang="ru-RU" dirty="0" smtClean="0"/>
              <a:t>Назначение </a:t>
            </a:r>
            <a:r>
              <a:rPr lang="ru-RU" dirty="0" smtClean="0"/>
              <a:t>задач команде проекта и контроль выполнения;</a:t>
            </a:r>
            <a:br>
              <a:rPr lang="ru-RU" dirty="0" smtClean="0"/>
            </a:br>
            <a:r>
              <a:rPr lang="ru-RU" dirty="0" smtClean="0"/>
              <a:t>➢ Требовать от команды выполнения ролевых функций;</a:t>
            </a:r>
            <a:br>
              <a:rPr lang="ru-RU" dirty="0" smtClean="0"/>
            </a:br>
            <a:r>
              <a:rPr lang="ru-RU" dirty="0" smtClean="0"/>
              <a:t>➢ Подтверждение или отклонение отчетов о фактических затратах</a:t>
            </a:r>
            <a:r>
              <a:rPr lang="ru-RU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❖ </a:t>
            </a:r>
            <a:r>
              <a:rPr lang="ru-RU" dirty="0" smtClean="0"/>
              <a:t>Распределение ресурсов проекта и организация взаимодействия команды</a:t>
            </a:r>
            <a:r>
              <a:rPr lang="ru-RU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❖ </a:t>
            </a:r>
            <a:r>
              <a:rPr lang="ru-RU" dirty="0" smtClean="0"/>
              <a:t>Организация взаимодействия команды с Заказчиком и другими участниками проекта;</a:t>
            </a:r>
            <a:br>
              <a:rPr lang="ru-RU" dirty="0" smtClean="0"/>
            </a:br>
            <a:r>
              <a:rPr lang="ru-RU" dirty="0" smtClean="0"/>
              <a:t>➢ Запрос Куратору проекта на выделение дополнительных ресурсов</a:t>
            </a:r>
            <a:r>
              <a:rPr lang="ru-RU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❖ </a:t>
            </a:r>
            <a:r>
              <a:rPr lang="ru-RU" dirty="0" smtClean="0"/>
              <a:t>Учет фактических затрат проекта;</a:t>
            </a:r>
            <a:br>
              <a:rPr lang="ru-RU" dirty="0" smtClean="0"/>
            </a:br>
            <a:r>
              <a:rPr lang="ru-RU" dirty="0" smtClean="0"/>
              <a:t>➢ Составление отчетности для Куратора проекта.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</a:t>
            </a:r>
            <a:r>
              <a:rPr lang="ru-RU" dirty="0" smtClean="0"/>
              <a:t>➢ Обращение </a:t>
            </a:r>
            <a:r>
              <a:rPr lang="ru-RU" dirty="0" smtClean="0"/>
              <a:t>к Куратору за</a:t>
            </a:r>
            <a:br>
              <a:rPr lang="ru-RU" dirty="0" smtClean="0"/>
            </a:br>
            <a:r>
              <a:rPr lang="ru-RU" dirty="0" smtClean="0"/>
              <a:t>поддержкой в случае необходимости.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142852"/>
            <a:ext cx="8686800" cy="50006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 </a:t>
            </a:r>
            <a:br>
              <a:rPr lang="ru-RU" b="1" dirty="0" smtClean="0"/>
            </a:br>
            <a:r>
              <a:rPr lang="ru-RU" b="1" dirty="0" smtClean="0"/>
              <a:t>Архитектор системы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Autofit/>
          </a:bodyPr>
          <a:lstStyle/>
          <a:p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Функции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❖ Определение состава, продолжительности и технологии выполнения работ;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❖ Определение необходимых ресурсов для выполнения проекта;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❖ Определение квалификационных требований и состава рабочих групп,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распределение по задачам и организация работ;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❖ Обеспечение целостности функциональной архитектуры;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❖ Организация, согласование и утверждение всей технической документации;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❖ Планирование и согласование фактических трудозатрат;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❖ Предоставление Руководителю проекта необходимой отчетности;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❖ Анализ хода выполнения задания и промежуточных результатов;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❖ Организация, проведение и документирование процедур передачи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выполненного проекта заказчику.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Полномочия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➢Участие в календарном планировании работ по проекту;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➢ Назначение и контроль за выполнением задач рабочими группы проекта;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➢ Требование от исполнителей качественного выполнения порученных задач;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➢ Обоснование необходимости и запрос руководителю проекта на выделение дополнительных ресурсов.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686800" cy="838200"/>
          </a:xfrm>
        </p:spPr>
        <p:txBody>
          <a:bodyPr/>
          <a:lstStyle/>
          <a:p>
            <a:r>
              <a:rPr lang="ru-RU" b="1" dirty="0" smtClean="0"/>
              <a:t>Администратор 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b="1" i="1" dirty="0" smtClean="0"/>
              <a:t>Полномочия и Функции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ru-RU" dirty="0" smtClean="0"/>
              <a:t> Обеспечение руководителя проекта структурированной информацией;</a:t>
            </a:r>
          </a:p>
          <a:p>
            <a:pPr>
              <a:buFont typeface="Wingdings" pitchFamily="2" charset="2"/>
              <a:buChar char="v"/>
            </a:pPr>
            <a:r>
              <a:rPr lang="ru-RU" dirty="0" smtClean="0"/>
              <a:t> </a:t>
            </a:r>
            <a:r>
              <a:rPr lang="ru-RU" dirty="0" smtClean="0"/>
              <a:t>Ведение протоколов совещаний;</a:t>
            </a:r>
          </a:p>
          <a:p>
            <a:pPr>
              <a:buFont typeface="Wingdings" pitchFamily="2" charset="2"/>
              <a:buChar char="v"/>
            </a:pPr>
            <a:r>
              <a:rPr lang="ru-RU" dirty="0" smtClean="0"/>
              <a:t> </a:t>
            </a:r>
            <a:r>
              <a:rPr lang="ru-RU" dirty="0" smtClean="0"/>
              <a:t>Обеспечение своевременной подготовки, движения и архивации документов проекта</a:t>
            </a:r>
            <a:r>
              <a:rPr lang="ru-RU" dirty="0" smtClean="0"/>
              <a:t>.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ru-RU" dirty="0" smtClean="0"/>
              <a:t> Передача и получение от участников проекта необходимой документации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i="1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Процесс </a:t>
            </a:r>
            <a:r>
              <a:rPr lang="ru-RU" sz="4000" b="1" i="1" dirty="0" err="1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командообразования</a:t>
            </a:r>
            <a:endParaRPr lang="ru-RU" sz="4000" i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1142984"/>
            <a:ext cx="8686800" cy="4937141"/>
          </a:xfrm>
        </p:spPr>
        <p:txBody>
          <a:bodyPr>
            <a:normAutofit fontScale="77500" lnSpcReduction="20000"/>
          </a:bodyPr>
          <a:lstStyle/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3600" b="1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 </a:t>
            </a:r>
            <a:endParaRPr lang="ru-RU" dirty="0" smtClean="0">
              <a:solidFill>
                <a:srgbClr val="333333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-Адаптация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-Группирование</a:t>
            </a:r>
            <a:b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-Сотрудничество, кооперация</a:t>
            </a:r>
            <a:b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-Нормирование деятельности</a:t>
            </a:r>
            <a:b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-Функционирование</a:t>
            </a:r>
            <a:b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-Особенности командной работы:</a:t>
            </a:r>
            <a:b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-Согласие между организационными целями и персональными целями сотрудников;</a:t>
            </a:r>
            <a:b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-Ориентация на конечный результат;</a:t>
            </a:r>
            <a:b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-Совместная ответственность;</a:t>
            </a:r>
            <a:b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-Гибкое лидерство внутри команды;</a:t>
            </a:r>
            <a:b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-Навыки самоуправления и принятия общих решений</a:t>
            </a:r>
            <a:r>
              <a:rPr lang="ru-RU" sz="3600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br>
              <a:rPr lang="ru-RU" sz="3600" dirty="0" smtClean="0">
                <a:solidFill>
                  <a:srgbClr val="333333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1057" name="Rectangle 1"/>
          <p:cNvSpPr>
            <a:spLocks noChangeArrowheads="1"/>
          </p:cNvSpPr>
          <p:nvPr/>
        </p:nvSpPr>
        <p:spPr bwMode="auto">
          <a:xfrm>
            <a:off x="0" y="0"/>
            <a:ext cx="184731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/>
            </a:r>
            <a:b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Развитие команды проекта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 smtClean="0"/>
              <a:t>Обучение</a:t>
            </a:r>
          </a:p>
          <a:p>
            <a:r>
              <a:rPr lang="ru-RU" i="1" dirty="0" smtClean="0"/>
              <a:t>Операции по укреплению команды</a:t>
            </a:r>
          </a:p>
          <a:p>
            <a:r>
              <a:rPr lang="ru-RU" i="1" dirty="0" smtClean="0"/>
              <a:t>Принципы взаимоотношений с сотрудниками</a:t>
            </a:r>
          </a:p>
          <a:p>
            <a:r>
              <a:rPr lang="ru-RU" i="1" dirty="0" err="1" smtClean="0"/>
              <a:t>Со-расположение</a:t>
            </a:r>
            <a:endParaRPr lang="ru-RU" i="1" dirty="0" smtClean="0"/>
          </a:p>
          <a:p>
            <a:r>
              <a:rPr lang="ru-RU" i="1" smtClean="0"/>
              <a:t>Поощрение </a:t>
            </a:r>
            <a:r>
              <a:rPr lang="ru-RU" i="1" dirty="0" smtClean="0"/>
              <a:t>и премирование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162</TotalTime>
  <Words>206</Words>
  <Application>Microsoft Office PowerPoint</Application>
  <PresentationFormat>Экран (4:3)</PresentationFormat>
  <Paragraphs>66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Трек</vt:lpstr>
      <vt:lpstr>Слайд 1</vt:lpstr>
      <vt:lpstr>Слайд 2</vt:lpstr>
      <vt:lpstr>Слайд 3</vt:lpstr>
      <vt:lpstr>Преимущества работы в команде</vt:lpstr>
      <vt:lpstr>Слайд 5</vt:lpstr>
      <vt:lpstr>Куратор проекта (Спонсор) </vt:lpstr>
      <vt:lpstr>Руководитель проекта</vt:lpstr>
      <vt:lpstr>  Архитектор системы </vt:lpstr>
      <vt:lpstr>Администратор проекта</vt:lpstr>
      <vt:lpstr>Процесс командообразования</vt:lpstr>
      <vt:lpstr>Развитие команды проекта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Любовь Юрьевна</dc:creator>
  <cp:lastModifiedBy>Любовь Юрьевна</cp:lastModifiedBy>
  <cp:revision>10</cp:revision>
  <dcterms:created xsi:type="dcterms:W3CDTF">2019-12-08T21:40:03Z</dcterms:created>
  <dcterms:modified xsi:type="dcterms:W3CDTF">2020-04-17T08:57:44Z</dcterms:modified>
</cp:coreProperties>
</file>